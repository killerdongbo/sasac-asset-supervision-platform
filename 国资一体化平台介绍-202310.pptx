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8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国资一体化平台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2286000"/>
            <a:ext cx="2103120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BBBBB"/>
                </a:solidFill>
                <a:latin typeface="微软雅黑" panose="020B0503020204020204" charset="-122"/>
              </a:defRPr>
            </a:pPr>
            <a:r>
              <a:t>国有资产全生命周期数字化管理解决方案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33272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rPr lang="zh-CN"/>
              <a:t>东莞市人工智能与数字经济集团有限公司</a:t>
            </a:r>
            <a:endParaRPr lang="zh-CN"/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332720" cy="29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202</a:t>
            </a:r>
            <a:r>
              <a:rPr lang="en-US"/>
              <a:t>3</a:t>
            </a:r>
            <a:r>
              <a:t>年</a:t>
            </a:r>
            <a:r>
              <a:rPr lang="en-US"/>
              <a:t>10</a:t>
            </a:r>
            <a:r>
              <a:t>月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A84C"/>
                </a:solidFill>
                <a:latin typeface="微软雅黑" panose="020B0503020204020204" charset="-122"/>
              </a:defRPr>
            </a:pPr>
            <a: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2847"/>
                </a:solidFill>
                <a:latin typeface="微软雅黑" panose="020B0503020204020204" charset="-122"/>
              </a:defRPr>
            </a:pPr>
            <a:r>
              <a:t>汇报目录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463040"/>
            <a:ext cx="914400" cy="381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6FB5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011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项目背景与建设目标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26771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政策驱动 + 痛点分析 + 建设愿景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48716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6FB5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4871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平台总体架构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7432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十大模块全景 + 用户角色体系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962656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6FB5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96265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资产管理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21868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全生命周期（形成→登记→使用→评估→处置）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438144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6FB5"/>
                </a:solidFill>
                <a:latin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43814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财务监管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3694176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快报+预算+资金+融资+担保+分析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91363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6FB5"/>
                </a:solidFill>
                <a:latin typeface="微软雅黑" panose="020B0503020204020204" charset="-122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391363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投资管理与三重一大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4169664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投前→投中→投后闭环 + 决策规范化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3891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6FB5"/>
                </a:solidFill>
                <a:latin typeface="微软雅黑" panose="020B0503020204020204" charset="-122"/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43891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人事薪酬与党建管理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64515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组织保障 + 政治保障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86460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6FB5"/>
                </a:solidFill>
                <a:latin typeface="微软雅黑" panose="020B0503020204020204" charset="-122"/>
              </a:defRPr>
            </a:pPr>
            <a: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48646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协同办公与风险管理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512064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流程驱动 + 三道防线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340096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6FB5"/>
                </a:solidFill>
                <a:latin typeface="微软雅黑" panose="020B0503020204020204" charset="-122"/>
              </a:defRPr>
            </a:pPr>
            <a: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37360" y="534009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监管驾驶舱与数据上报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37360" y="559612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穿透式监管 + 智能校验引擎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815584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6FB5"/>
                </a:solidFill>
                <a:latin typeface="微软雅黑" panose="020B0503020204020204" charset="-122"/>
              </a:defRPr>
            </a:pPr>
            <a: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581558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技术架构与信创适配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37360" y="6071616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微服务+国产化+等保三级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629107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6FB5"/>
                </a:solidFill>
                <a:latin typeface="微软雅黑" panose="020B0503020204020204" charset="-122"/>
              </a:defRPr>
            </a:pPr>
            <a: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37360" y="62910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建设路线图与预期价值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37360" y="6547104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三阶段实施 + 六大成效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176000" y="6502400"/>
            <a:ext cx="76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2 / 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8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2659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项目背景与建设目标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66160"/>
            <a:ext cx="137160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政策驱动 · 痛点分析 · 建设愿景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76000" y="6502400"/>
            <a:ext cx="76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3 / 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2847"/>
                </a:solidFill>
                <a:latin typeface="微软雅黑" panose="020B0503020204020204" charset="-122"/>
              </a:defRPr>
            </a:pPr>
            <a:r>
              <a:t>政策背景与行业趋势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097280" cy="254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50800" cy="73152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280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9A84C"/>
                </a:solidFill>
                <a:latin typeface="微软雅黑" panose="020B0503020204020204" charset="-122"/>
              </a:defRPr>
            </a:pPr>
            <a:r>
              <a:t>国务院国资委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508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关于加快推进国有企业数字化转型工作的通知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75564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明确要求加快国资监管信息化建设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148840"/>
            <a:ext cx="50800" cy="73152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48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9A84C"/>
                </a:solidFill>
                <a:latin typeface="微软雅黑" panose="020B0503020204020204" charset="-122"/>
              </a:defRPr>
            </a:pPr>
            <a:r>
              <a:t>国务院国资委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774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全国国资国企在线监管系统建设方案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62432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实现"穿透式监管"，构建横向到边、纵向到底的实时动态监管体系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017520"/>
            <a:ext cx="50800" cy="73152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017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9A84C"/>
                </a:solidFill>
                <a:latin typeface="微软雅黑" panose="020B0503020204020204" charset="-122"/>
              </a:defRPr>
            </a:pPr>
            <a:r>
              <a:t>财政部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2461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关于加强行政事业单位国有资产管理的指导意见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4930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要求建立"全面、准确、细化、动态"的资产管理信息平台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886200"/>
            <a:ext cx="50800" cy="73152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886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9A84C"/>
                </a:solidFill>
                <a:latin typeface="微软雅黑" panose="020B0503020204020204" charset="-122"/>
              </a:defRPr>
            </a:pPr>
            <a:r>
              <a:t>各省国资委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114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地方国资在线监管平台建设规划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36168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各省纷纷启动国资一体化监管平台建设，推动数据互联互通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1280160"/>
            <a:ext cx="3657600" cy="41148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1463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2847"/>
                </a:solidFill>
                <a:latin typeface="微软雅黑" panose="020B0503020204020204" charset="-122"/>
              </a:defRPr>
            </a:pPr>
            <a:r>
              <a:t>关键数据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2011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6FB5"/>
                </a:solidFill>
                <a:latin typeface="微软雅黑" panose="020B0503020204020204" charset="-122"/>
              </a:defRPr>
            </a:pPr>
            <a:r>
              <a:t>200+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2423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央企及地方国企</a:t>
            </a:r>
            <a:br/>
            <a:r>
              <a:t>启动监管平台建设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3108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6FB5"/>
                </a:solidFill>
                <a:latin typeface="微软雅黑" panose="020B0503020204020204" charset="-122"/>
              </a:defRPr>
            </a:pPr>
            <a:r>
              <a:t>85%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3520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省份已明确</a:t>
            </a:r>
            <a:br/>
            <a:r>
              <a:t>国资在线监管时间表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4206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6FB5"/>
                </a:solidFill>
                <a:latin typeface="微软雅黑" panose="020B0503020204020204" charset="-122"/>
              </a:defRPr>
            </a:pPr>
            <a:r>
              <a:t>3年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4617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全国国资监管</a:t>
            </a:r>
            <a:br/>
            <a:r>
              <a:t>数字化转型窗口期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176000" y="6502400"/>
            <a:ext cx="76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4 / 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2847"/>
                </a:solidFill>
                <a:latin typeface="微软雅黑" panose="020B0503020204020204" charset="-122"/>
              </a:defRPr>
            </a:pPr>
            <a:r>
              <a:t>传统国资监管痛点分析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097280" cy="254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347472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4720" y="1341120"/>
            <a:ext cx="306832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4720" y="1747520"/>
            <a:ext cx="30683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资产家底不清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4720" y="2052320"/>
            <a:ext cx="3068320" cy="1178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资产台账不完整，数据分散在多个系统，</a:t>
            </a:r>
            <a:br/>
            <a:r>
              <a:t>无法实时掌握国有资产总量和分布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59" y="1188720"/>
            <a:ext cx="347472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3759" y="1341120"/>
            <a:ext cx="306832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3759" y="1747520"/>
            <a:ext cx="30683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财务数据滞后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3759" y="2052320"/>
            <a:ext cx="3068320" cy="1178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财务报表手工填报，周期长、易出错，</a:t>
            </a:r>
            <a:br/>
            <a:r>
              <a:t>国资委难以实时掌握企业经营动态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188720"/>
            <a:ext cx="347472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32800" y="1341120"/>
            <a:ext cx="306832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2800" y="1747520"/>
            <a:ext cx="30683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投资风险难控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2800" y="2052320"/>
            <a:ext cx="3068320" cy="1178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投资项目从立项到退出缺乏全流程监控，</a:t>
            </a:r>
            <a:br/>
            <a:r>
              <a:t>超概、滞后问题频发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657600"/>
            <a:ext cx="347472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4720" y="3810000"/>
            <a:ext cx="306832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4720" y="4216400"/>
            <a:ext cx="30683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监管手段单一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4720" y="4521200"/>
            <a:ext cx="3068320" cy="1178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依赖企业上报报表，缺乏穿透式监管能力，</a:t>
            </a:r>
            <a:br/>
            <a:r>
              <a:t>无法实时预警和主动发现风险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59" y="3657600"/>
            <a:ext cx="347472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83759" y="3810000"/>
            <a:ext cx="306832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83759" y="4216400"/>
            <a:ext cx="30683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信息孤岛严重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83759" y="4521200"/>
            <a:ext cx="3068320" cy="1178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资产/财务/人事/党建等系统各自独立，</a:t>
            </a:r>
            <a:br/>
            <a:r>
              <a:t>数据不互通，无法形成监管合力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3657600"/>
            <a:ext cx="347472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32800" y="3810000"/>
            <a:ext cx="306832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⚖️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32800" y="4216400"/>
            <a:ext cx="30683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三重一大执行难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2800" y="4521200"/>
            <a:ext cx="3068320" cy="1178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决策程序不规范，缺少线上留痕，</a:t>
            </a:r>
            <a:br/>
            <a:r>
              <a:t>无法追溯决策全过程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176000" y="6502400"/>
            <a:ext cx="76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5 / 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2847"/>
                </a:solidFill>
                <a:latin typeface="微软雅黑" panose="020B0503020204020204" charset="-122"/>
              </a:defRPr>
            </a:pPr>
            <a:r>
              <a:t>平台建设目标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097280" cy="254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8720" y="1371600"/>
            <a:ext cx="640080" cy="640080"/>
          </a:xfrm>
          <a:prstGeom prst="ellipse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2847"/>
                </a:solidFill>
                <a:latin typeface="微软雅黑" panose="020B0503020204020204" charset="-122"/>
              </a:defRPr>
            </a:pPr>
            <a:r>
              <a:t>摸清家底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建立统一资产台账</a:t>
            </a:r>
            <a:br/>
            <a:r>
              <a:t>覆盖全部资产类型</a:t>
            </a:r>
            <a:br/>
            <a:r>
              <a:t>一资一卡全程追溯</a:t>
            </a:r>
          </a:p>
        </p:txBody>
      </p:sp>
      <p:sp>
        <p:nvSpPr>
          <p:cNvPr id="8" name="Oval 7"/>
          <p:cNvSpPr/>
          <p:nvPr/>
        </p:nvSpPr>
        <p:spPr>
          <a:xfrm>
            <a:off x="3474720" y="1371600"/>
            <a:ext cx="640080" cy="640080"/>
          </a:xfrm>
          <a:prstGeom prst="ellipse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194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2847"/>
                </a:solidFill>
                <a:latin typeface="微软雅黑" panose="020B0503020204020204" charset="-122"/>
              </a:defRPr>
            </a:pPr>
            <a:r>
              <a:t>规范流程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6060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核心业务全在线</a:t>
            </a:r>
            <a:br/>
            <a:r>
              <a:t>标准化审批流程</a:t>
            </a:r>
            <a:br/>
            <a:r>
              <a:t>各环节留痕可查</a:t>
            </a:r>
          </a:p>
        </p:txBody>
      </p:sp>
      <p:sp>
        <p:nvSpPr>
          <p:cNvPr id="11" name="Oval 10"/>
          <p:cNvSpPr/>
          <p:nvPr/>
        </p:nvSpPr>
        <p:spPr>
          <a:xfrm>
            <a:off x="5760720" y="1371600"/>
            <a:ext cx="640080" cy="640080"/>
          </a:xfrm>
          <a:prstGeom prst="ellipse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194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2847"/>
                </a:solidFill>
                <a:latin typeface="微软雅黑" panose="020B0503020204020204" charset="-122"/>
              </a:defRPr>
            </a:pPr>
            <a:r>
              <a:t>实时监控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6060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15+预警规则</a:t>
            </a:r>
            <a:br/>
            <a:r>
              <a:t>大额资金秒级发现</a:t>
            </a:r>
            <a:br/>
            <a:r>
              <a:t>风险主动推送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0" y="1371600"/>
            <a:ext cx="640080" cy="640080"/>
          </a:xfrm>
          <a:prstGeom prst="ellipse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194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2847"/>
                </a:solidFill>
                <a:latin typeface="微软雅黑" panose="020B0503020204020204" charset="-122"/>
              </a:defRPr>
            </a:pPr>
            <a:r>
              <a:t>数据驱动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6060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300+校验规则</a:t>
            </a:r>
            <a:br/>
            <a:r>
              <a:t>多维数据自动汇总</a:t>
            </a:r>
            <a:br/>
            <a:r>
              <a:t>辅助科学决策</a:t>
            </a:r>
          </a:p>
        </p:txBody>
      </p:sp>
      <p:sp>
        <p:nvSpPr>
          <p:cNvPr id="17" name="Oval 16"/>
          <p:cNvSpPr/>
          <p:nvPr/>
        </p:nvSpPr>
        <p:spPr>
          <a:xfrm>
            <a:off x="10332720" y="1371600"/>
            <a:ext cx="640080" cy="640080"/>
          </a:xfrm>
          <a:prstGeom prst="ellipse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2194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2847"/>
                </a:solidFill>
                <a:latin typeface="微软雅黑" panose="020B0503020204020204" charset="-122"/>
              </a:defRPr>
            </a:pPr>
            <a:r>
              <a:t>穿透监管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26060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国资委-企业贯通</a:t>
            </a:r>
            <a:br/>
            <a:r>
              <a:t>全景→行业→企业</a:t>
            </a:r>
            <a:br/>
            <a:r>
              <a:t>→明细四级穿透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3840480"/>
            <a:ext cx="10332720" cy="13716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2847"/>
                </a:solidFill>
                <a:latin typeface="微软雅黑" panose="020B0503020204020204" charset="-122"/>
              </a:defRPr>
            </a:pPr>
            <a:r>
              <a:t>实现"数据汇聚 · 流程贯通 · 风险预警 · 决策支持"四大核心能力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663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构建"横向到边（覆盖全部监管职能）、纵向到底（国资委-企业全贯通）"的穿透式监管体系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76000" y="6502400"/>
            <a:ext cx="76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6 / 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8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平台总体架构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66160"/>
            <a:ext cx="137160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十大模块全景 · 双端协同 · 用户角色体系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76000" y="6502400"/>
            <a:ext cx="76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7 / 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2847"/>
                </a:solidFill>
                <a:latin typeface="微软雅黑" panose="020B0503020204020204" charset="-122"/>
              </a:defRPr>
            </a:pPr>
            <a:r>
              <a:t>平台总体架构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31520"/>
            <a:ext cx="1097280" cy="254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097280"/>
            <a:ext cx="9418320" cy="777240"/>
          </a:xfrm>
          <a:prstGeom prst="rect">
            <a:avLst/>
          </a:prstGeom>
          <a:solidFill>
            <a:srgbClr val="0F2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11704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监管驾驶舱（顶层入口）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5087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DDDDD"/>
                </a:solidFill>
                <a:latin typeface="微软雅黑" panose="020B0503020204020204" charset="-122"/>
              </a:defRPr>
            </a:pPr>
            <a:r>
              <a:t>一屏知全局 · 穿透式监管 · 实时预警推送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2011680"/>
            <a:ext cx="9418320" cy="77724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0848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核心业务三大支柱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423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DDDDD"/>
                </a:solidFill>
                <a:latin typeface="微软雅黑" panose="020B0503020204020204" charset="-122"/>
              </a:defRPr>
            </a:pPr>
            <a:r>
              <a:t>资产管理（数据底座）+ 财务监管（经营核心）+ 投资管理（发展引擎）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1737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2926080"/>
            <a:ext cx="9418320" cy="777240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29992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组织保障与决策枢纽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3375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DDDDD"/>
                </a:solidFill>
                <a:latin typeface="微软雅黑" panose="020B0503020204020204" charset="-122"/>
              </a:defRPr>
            </a:pPr>
            <a:r>
              <a:t>三重一大（决策枢纽）+ 人事薪酬（组织保障）+ 党建管理（政治保障）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26517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3840480"/>
            <a:ext cx="9418320" cy="777240"/>
          </a:xfrm>
          <a:prstGeom prst="rect">
            <a:avLst/>
          </a:prstGeom>
          <a:solidFill>
            <a:srgbClr val="22B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45920" y="39136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流程驱动与全程监控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251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DDDDD"/>
                </a:solidFill>
                <a:latin typeface="微软雅黑" panose="020B0503020204020204" charset="-122"/>
              </a:defRPr>
            </a:pPr>
            <a:r>
              <a:t>协同办公（流程驱动）+ 风险管理（全程监控）+ 数据上报（信息采集）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35661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0" y="4754880"/>
            <a:ext cx="9418320" cy="777240"/>
          </a:xfrm>
          <a:prstGeom prst="rect">
            <a:avLst/>
          </a:prstGeom>
          <a:solidFill>
            <a:srgbClr val="556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45920" y="48280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统一基础平台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51663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DDDDD"/>
                </a:solidFill>
                <a:latin typeface="微软雅黑" panose="020B0503020204020204" charset="-122"/>
              </a:defRPr>
            </a:pPr>
            <a:r>
              <a:t>用户权限管理 + 流程引擎 + 消息通知 + 操作日志 + 数据接口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44805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76000" y="6502400"/>
            <a:ext cx="76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8 / 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2847"/>
                </a:solidFill>
                <a:latin typeface="微软雅黑" panose="020B0503020204020204" charset="-122"/>
              </a:defRPr>
            </a:pPr>
            <a:r>
              <a:t>用户角色体系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097280" cy="254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73736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1840" y="1432560"/>
            <a:ext cx="133096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🏛️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1840" y="1838960"/>
            <a:ext cx="13309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国资委领导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1840" y="2143760"/>
            <a:ext cx="1330960" cy="1178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驾驶舱全景</a:t>
            </a:r>
            <a:br/>
            <a:r>
              <a:t>决策分析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1280160"/>
            <a:ext cx="173736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72080" y="1432560"/>
            <a:ext cx="133096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72080" y="1838960"/>
            <a:ext cx="13309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国资委处室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2080" y="2143760"/>
            <a:ext cx="1330960" cy="1178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审核审批</a:t>
            </a:r>
            <a:br/>
            <a:r>
              <a:t>考核评价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280160"/>
            <a:ext cx="173736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2320" y="1432560"/>
            <a:ext cx="133096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2320" y="1838960"/>
            <a:ext cx="13309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国企领导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2320" y="2143760"/>
            <a:ext cx="1330960" cy="1178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企业经营看板</a:t>
            </a:r>
            <a:br/>
            <a:r>
              <a:t>重大决策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280160"/>
            <a:ext cx="173736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2560" y="1432560"/>
            <a:ext cx="133096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2560" y="1838960"/>
            <a:ext cx="13309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企业经办人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2560" y="2143760"/>
            <a:ext cx="1330960" cy="1178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数据填报</a:t>
            </a:r>
            <a:br/>
            <a:r>
              <a:t>业务操作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1280160"/>
            <a:ext cx="173736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32800" y="1432560"/>
            <a:ext cx="133096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2800" y="1838960"/>
            <a:ext cx="13309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系统管理员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2800" y="2143760"/>
            <a:ext cx="1330960" cy="1178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用户权限</a:t>
            </a:r>
            <a:br/>
            <a:r>
              <a:t>系统运维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149840" y="1280160"/>
            <a:ext cx="173736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53040" y="1432560"/>
            <a:ext cx="133096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53040" y="1838960"/>
            <a:ext cx="13309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移动端用户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53040" y="2143760"/>
            <a:ext cx="1330960" cy="1178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移动审批</a:t>
            </a:r>
            <a:br/>
            <a:r>
              <a:t>预警推送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176000" y="6502400"/>
            <a:ext cx="76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9 / 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8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7830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资产管理 — 全生命周期管理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66160"/>
            <a:ext cx="137160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台账管理 · 产权登记 · 评估备案 · 出租处置 · 盘点预警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76000" y="6502400"/>
            <a:ext cx="76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10 / 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2847"/>
                </a:solidFill>
                <a:latin typeface="微软雅黑" panose="020B0503020204020204" charset="-122"/>
              </a:defRPr>
            </a:pPr>
            <a:r>
              <a:t>资产全生命周期管理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097280" cy="254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" y="1280160"/>
            <a:ext cx="731520" cy="731520"/>
          </a:xfrm>
          <a:prstGeom prst="ellipse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F2847"/>
                </a:solidFill>
                <a:latin typeface="微软雅黑" panose="020B0503020204020204" charset="-122"/>
              </a:defRPr>
            </a:pPr>
            <a:r>
              <a:t>资产形成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购置/建造/</a:t>
            </a:r>
            <a:br/>
            <a:r>
              <a:t>划转/捐赠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4630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6FB5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9" name="Oval 8"/>
          <p:cNvSpPr/>
          <p:nvPr/>
        </p:nvSpPr>
        <p:spPr>
          <a:xfrm>
            <a:off x="3429000" y="1280160"/>
            <a:ext cx="731520" cy="731520"/>
          </a:xfrm>
          <a:prstGeom prst="ellipse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21945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F2847"/>
                </a:solidFill>
                <a:latin typeface="微软雅黑" panose="020B0503020204020204" charset="-122"/>
              </a:defRPr>
            </a:pPr>
            <a:r>
              <a:t>产权登记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25146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占有/变动/</a:t>
            </a:r>
            <a:br/>
            <a:r>
              <a:t>注销登记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14630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6FB5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3" name="Oval 12"/>
          <p:cNvSpPr/>
          <p:nvPr/>
        </p:nvSpPr>
        <p:spPr>
          <a:xfrm>
            <a:off x="5760720" y="1280160"/>
            <a:ext cx="731520" cy="731520"/>
          </a:xfrm>
          <a:prstGeom prst="ellipse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1945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F2847"/>
                </a:solidFill>
                <a:latin typeface="微软雅黑" panose="020B0503020204020204" charset="-122"/>
              </a:defRPr>
            </a:pPr>
            <a:r>
              <a:t>日常使用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5146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折旧/出租/</a:t>
            </a:r>
            <a:br/>
            <a:r>
              <a:t>出借/经营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14630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6FB5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7" name="Oval 16"/>
          <p:cNvSpPr/>
          <p:nvPr/>
        </p:nvSpPr>
        <p:spPr>
          <a:xfrm>
            <a:off x="8092439" y="1280160"/>
            <a:ext cx="731520" cy="731520"/>
          </a:xfrm>
          <a:prstGeom prst="ellipse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59" y="21945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F2847"/>
                </a:solidFill>
                <a:latin typeface="微软雅黑" panose="020B0503020204020204" charset="-122"/>
              </a:defRPr>
            </a:pPr>
            <a:r>
              <a:t>评估变动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59" y="25146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评估备案/</a:t>
            </a:r>
            <a:br/>
            <a:r>
              <a:t>价值变更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39" y="14630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6FB5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21" name="Oval 20"/>
          <p:cNvSpPr/>
          <p:nvPr/>
        </p:nvSpPr>
        <p:spPr>
          <a:xfrm>
            <a:off x="10424160" y="1280160"/>
            <a:ext cx="731520" cy="731520"/>
          </a:xfrm>
          <a:prstGeom prst="ellipse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21945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F2847"/>
                </a:solidFill>
                <a:latin typeface="微软雅黑" panose="020B0503020204020204" charset="-122"/>
              </a:defRPr>
            </a:pPr>
            <a:r>
              <a:t>处置退出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25146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转让/报废/</a:t>
            </a:r>
            <a:br/>
            <a:r>
              <a:t>划转/核销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291840"/>
            <a:ext cx="265176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0400" y="3444240"/>
            <a:ext cx="224536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660400" y="3850640"/>
            <a:ext cx="22453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📋 资产台账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0400" y="4155440"/>
            <a:ext cx="2245360" cy="401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一资一卡，50+字段</a:t>
            </a:r>
            <a:br/>
            <a:r>
              <a:t>二维码标签，批量导入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37560" y="3291840"/>
            <a:ext cx="265176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40760" y="3444240"/>
            <a:ext cx="224536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3540760" y="3850640"/>
            <a:ext cx="22453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📐 产权登记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40760" y="4155440"/>
            <a:ext cx="2245360" cy="401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占有/变动/注销</a:t>
            </a:r>
            <a:br/>
            <a:r>
              <a:t>电子证照，到期提醒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3291840"/>
            <a:ext cx="265176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21120" y="3444240"/>
            <a:ext cx="224536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34" name="TextBox 33"/>
          <p:cNvSpPr txBox="1"/>
          <p:nvPr/>
        </p:nvSpPr>
        <p:spPr>
          <a:xfrm>
            <a:off x="6421120" y="3850640"/>
            <a:ext cx="22453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📊 资产评估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1120" y="4155440"/>
            <a:ext cx="2245360" cy="401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立项→选聘→报告→公示</a:t>
            </a:r>
            <a:br/>
            <a:r>
              <a:t>→核准备案，1年有效期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98280" y="3291840"/>
            <a:ext cx="265176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01480" y="3444240"/>
            <a:ext cx="224536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38" name="TextBox 37"/>
          <p:cNvSpPr txBox="1"/>
          <p:nvPr/>
        </p:nvSpPr>
        <p:spPr>
          <a:xfrm>
            <a:off x="9301480" y="3850640"/>
            <a:ext cx="22453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💰 资产出租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01480" y="4155440"/>
            <a:ext cx="2245360" cy="401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招租管理→合同→租金</a:t>
            </a:r>
            <a:br/>
            <a:r>
              <a:t>收缴→到期续租/收回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937760"/>
            <a:ext cx="265176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0400" y="5090160"/>
            <a:ext cx="224536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42" name="TextBox 41"/>
          <p:cNvSpPr txBox="1"/>
          <p:nvPr/>
        </p:nvSpPr>
        <p:spPr>
          <a:xfrm>
            <a:off x="660400" y="5496560"/>
            <a:ext cx="22453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🗑️ 资产处置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0400" y="5801360"/>
            <a:ext cx="2245360" cy="401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转让/报废/报损/划转</a:t>
            </a:r>
            <a:br/>
            <a:r>
              <a:t>三级审批权限矩阵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37560" y="4937760"/>
            <a:ext cx="265176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40760" y="5090160"/>
            <a:ext cx="224536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46" name="TextBox 45"/>
          <p:cNvSpPr txBox="1"/>
          <p:nvPr/>
        </p:nvSpPr>
        <p:spPr>
          <a:xfrm>
            <a:off x="3540760" y="5496560"/>
            <a:ext cx="22453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🔍 资产盘点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40760" y="5801360"/>
            <a:ext cx="2245360" cy="401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扫码盘点+PDA+手工</a:t>
            </a:r>
            <a:br/>
            <a:r>
              <a:t>差异自动生成处理单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17920" y="4937760"/>
            <a:ext cx="265176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21120" y="5090160"/>
            <a:ext cx="224536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50" name="TextBox 49"/>
          <p:cNvSpPr txBox="1"/>
          <p:nvPr/>
        </p:nvSpPr>
        <p:spPr>
          <a:xfrm>
            <a:off x="6421120" y="5496560"/>
            <a:ext cx="22453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📄 权证档案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21120" y="5801360"/>
            <a:ext cx="2245360" cy="401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权证登记+关联资产</a:t>
            </a:r>
            <a:br/>
            <a:r>
              <a:t>借阅管理+到期提醒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098280" y="4937760"/>
            <a:ext cx="265176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301480" y="5090160"/>
            <a:ext cx="224536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54" name="TextBox 53"/>
          <p:cNvSpPr txBox="1"/>
          <p:nvPr/>
        </p:nvSpPr>
        <p:spPr>
          <a:xfrm>
            <a:off x="9301480" y="5496560"/>
            <a:ext cx="22453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🔔 预警中心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01480" y="5801360"/>
            <a:ext cx="2245360" cy="401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闲置/权证/租金/出租</a:t>
            </a:r>
            <a:br/>
            <a:r>
              <a:t>/评估/年费15+规则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176000" y="6502400"/>
            <a:ext cx="76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11 / 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8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7830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财务监管 — 全方位财务管控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66160"/>
            <a:ext cx="137160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快报·预算·资金·融资·担保·分析·决算·收益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76000" y="6502400"/>
            <a:ext cx="76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12 / 28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2847"/>
                </a:solidFill>
                <a:latin typeface="微软雅黑" panose="020B0503020204020204" charset="-122"/>
              </a:defRPr>
            </a:pPr>
            <a:r>
              <a:t>财务监管核心模块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097280" cy="254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3474720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1840" y="1341120"/>
            <a:ext cx="306832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1840" y="1747520"/>
            <a:ext cx="30683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财务快报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1840" y="2052320"/>
            <a:ext cx="3068320" cy="14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月/季/年报在线填报</a:t>
            </a:r>
            <a:br/>
            <a:r>
              <a:t>300+智能校验规则</a:t>
            </a:r>
            <a:br/>
            <a:r>
              <a:t>自动汇总+合并抵销</a:t>
            </a:r>
            <a:br/>
            <a:r>
              <a:t>报送质量评分排名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188720"/>
            <a:ext cx="3474720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2320" y="1341120"/>
            <a:ext cx="306832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2320" y="1747520"/>
            <a:ext cx="30683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全面预算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2320" y="2052320"/>
            <a:ext cx="3068320" cy="14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10张预算表体系</a:t>
            </a:r>
            <a:br/>
            <a:r>
              <a:t>编制→审批→执行→调整</a:t>
            </a:r>
            <a:br/>
            <a:r>
              <a:t>闭环管理</a:t>
            </a:r>
            <a:br/>
            <a:r>
              <a:t>预算执行偏差实时预警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188720"/>
            <a:ext cx="3474720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32800" y="1341120"/>
            <a:ext cx="306832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2800" y="1747520"/>
            <a:ext cx="30683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资金监管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2800" y="2052320"/>
            <a:ext cx="3068320" cy="14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银行账户全生命周期</a:t>
            </a:r>
            <a:br/>
            <a:r>
              <a:t>大额资金实时监控</a:t>
            </a:r>
            <a:br/>
            <a:r>
              <a:t>8条预警规则</a:t>
            </a:r>
            <a:br/>
            <a:r>
              <a:t>资金归集率动态监控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931920"/>
            <a:ext cx="3474720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1840" y="4084320"/>
            <a:ext cx="306832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1840" y="4490720"/>
            <a:ext cx="30683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融资管理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840" y="4795520"/>
            <a:ext cx="3068320" cy="14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融资台账+还本付息</a:t>
            </a:r>
            <a:br/>
            <a:r>
              <a:t>授信额度动态管理</a:t>
            </a:r>
            <a:br/>
            <a:r>
              <a:t>到期债务集中度预警</a:t>
            </a:r>
            <a:br/>
            <a:r>
              <a:t>负债率红线刚性约束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0" y="3931920"/>
            <a:ext cx="3474720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92320" y="4084320"/>
            <a:ext cx="306832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🛡️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2320" y="4490720"/>
            <a:ext cx="30683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担保管理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2320" y="4795520"/>
            <a:ext cx="3068320" cy="14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对内/对外担保登记</a:t>
            </a:r>
            <a:br/>
            <a:r>
              <a:t>对外担保逐笔审批</a:t>
            </a:r>
            <a:br/>
            <a:r>
              <a:t>担保总额≤净资产50%</a:t>
            </a:r>
            <a:br/>
            <a:r>
              <a:t>代偿追偿跟踪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3931920"/>
            <a:ext cx="3474720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32800" y="4084320"/>
            <a:ext cx="306832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32800" y="4490720"/>
            <a:ext cx="30683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财务分析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2800" y="4795520"/>
            <a:ext cx="3068320" cy="14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一利五率仪表盘</a:t>
            </a:r>
            <a:br/>
            <a:r>
              <a:t>杜邦分析+对标分析</a:t>
            </a:r>
            <a:br/>
            <a:r>
              <a:t>一键生成分析报告</a:t>
            </a:r>
            <a:br/>
            <a:r>
              <a:t>四维能力矩阵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176000" y="6502400"/>
            <a:ext cx="76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13 / 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2847"/>
                </a:solidFill>
                <a:latin typeface="微软雅黑" panose="020B0503020204020204" charset="-122"/>
              </a:defRPr>
            </a:pPr>
            <a:r>
              <a:t>财务风险预警体系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097280" cy="254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515600" cy="128016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280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2847"/>
                </a:solidFill>
                <a:latin typeface="微软雅黑" panose="020B0503020204020204" charset="-122"/>
              </a:defRPr>
            </a:pPr>
            <a:r>
              <a:t>🔴 红色预警（紧急）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6459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资产负债率超过行业红线（工业企业70%，其他75%）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92024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大额资金单日拆分支付超过2000万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1945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对外担保总额超过净资产50%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651760"/>
            <a:ext cx="10515600" cy="128016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743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2847"/>
                </a:solidFill>
                <a:latin typeface="微软雅黑" panose="020B0503020204020204" charset="-122"/>
              </a:defRPr>
            </a:pPr>
            <a:r>
              <a:t>🟠 橙色预警（重要）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108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已获利息倍数低于2倍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3832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工资总额执行进度超过时间进度15%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65760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融资到期集中度过高（单月到期超过总额30%）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114800"/>
            <a:ext cx="10515600" cy="128016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06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2847"/>
                </a:solidFill>
                <a:latin typeface="微软雅黑" panose="020B0503020204020204" charset="-122"/>
              </a:defRPr>
            </a:pPr>
            <a:r>
              <a:t>🟡 黄色预警（关注）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7200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营收/利润环比波动超过30%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8463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预算执行偏差超过20%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512064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应收账款周转天数同比延长30%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176000" y="6502400"/>
            <a:ext cx="76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14 / 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8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44675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投资管理与三重一大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66160"/>
            <a:ext cx="137160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投前→投中→投后闭环 · 决策全流程规范化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76000" y="6502400"/>
            <a:ext cx="76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15 / 28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2847"/>
                </a:solidFill>
                <a:latin typeface="微软雅黑" panose="020B0503020204020204" charset="-122"/>
              </a:defRPr>
            </a:pPr>
            <a:r>
              <a:t>投资管理：投前→投中→投后闭环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097280" cy="254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515600" cy="16459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63500" cy="164592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2618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6FB5"/>
                </a:solidFill>
                <a:latin typeface="微软雅黑" panose="020B0503020204020204" charset="-122"/>
              </a:defRPr>
            </a:pPr>
            <a:r>
              <a:t>投前管理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600200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年度投资计划编制与总量控制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856232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负面清单自动校验（禁止类/特别监管类/限制类）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12264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可行性研究报告 + 尽职调查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368296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专家评审（随机抽取+回避管理）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624328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分级审批（企业→国资委→国务院国资委）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017520"/>
            <a:ext cx="10515600" cy="16459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017520"/>
            <a:ext cx="63500" cy="1645920"/>
          </a:xfrm>
          <a:prstGeom prst="rect">
            <a:avLst/>
          </a:prstGeom>
          <a:solidFill>
            <a:srgbClr val="22B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0906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2B374"/>
                </a:solidFill>
                <a:latin typeface="微软雅黑" panose="020B0503020204020204" charset="-122"/>
              </a:defRPr>
            </a:pPr>
            <a:r>
              <a:t>投中监控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429000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建设进度甘特图（计划vs实际）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685032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资金拨付申请→审批→拨付闭环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941064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变更管理（三级审批：&lt;5%自主/5-10%备案/&gt;10%重审）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197096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竣工验收（五方验收+竣工决算）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453128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自动推送固定资产清单至资产管理模块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846320"/>
            <a:ext cx="10515600" cy="16459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4846320"/>
            <a:ext cx="63500" cy="1645920"/>
          </a:xfrm>
          <a:prstGeom prst="rect">
            <a:avLst/>
          </a:prstGeom>
          <a:solidFill>
            <a:srgbClr val="F0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9194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0A020"/>
                </a:solidFill>
                <a:latin typeface="微软雅黑" panose="020B0503020204020204" charset="-122"/>
              </a:defRPr>
            </a:pPr>
            <a:r>
              <a:t>投后评价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257800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竣工后评价（投产后6-18个月）/ 中期评价（运营3年）/ 退出评价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513832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五维评价：决策/实施/效益/持续能力/影响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769864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五级评分：A成功/B基本成功/C部分成功/D不成功/E失败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6025896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发现问题→整改方案→跟踪→销号闭环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176000" y="6502400"/>
            <a:ext cx="76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16 / 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2847"/>
                </a:solidFill>
                <a:latin typeface="微软雅黑" panose="020B0503020204020204" charset="-122"/>
              </a:defRPr>
            </a:pPr>
            <a:r>
              <a:t>"三重一大"决策管理系统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097280" cy="254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2651760" cy="201168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重大决策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EEEEE"/>
                </a:solidFill>
                <a:latin typeface="微软雅黑" panose="020B0503020204020204" charset="-122"/>
              </a:defRPr>
            </a:pPr>
            <a:r>
              <a:t>发展战略/章程修订</a:t>
            </a:r>
            <a:br/>
            <a:r>
              <a:t>资产处置/改革重组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280160"/>
            <a:ext cx="2651760" cy="2011680"/>
          </a:xfrm>
          <a:prstGeom prst="rect">
            <a:avLst/>
          </a:prstGeom>
          <a:solidFill>
            <a:srgbClr val="22B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4630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重要人事</a:t>
            </a:r>
            <a:br/>
            <a:r>
              <a:t>任免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28600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EEEEE"/>
                </a:solidFill>
                <a:latin typeface="微软雅黑" panose="020B0503020204020204" charset="-122"/>
              </a:defRPr>
            </a:pPr>
            <a:r>
              <a:t>中层正职以上</a:t>
            </a:r>
            <a:br/>
            <a:r>
              <a:t>下属企业负责人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280160"/>
            <a:ext cx="2651760" cy="2011680"/>
          </a:xfrm>
          <a:prstGeom prst="rect">
            <a:avLst/>
          </a:prstGeom>
          <a:solidFill>
            <a:srgbClr val="F0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4630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重大项目</a:t>
            </a:r>
            <a:br/>
            <a:r>
              <a:t>安排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28600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EEEEE"/>
                </a:solidFill>
                <a:latin typeface="微软雅黑" panose="020B0503020204020204" charset="-122"/>
              </a:defRPr>
            </a:pPr>
            <a:r>
              <a:t>固投&gt;5000万</a:t>
            </a:r>
            <a:br/>
            <a:r>
              <a:t>股权投资&gt;1000万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0" y="1280160"/>
            <a:ext cx="2651760" cy="20116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0" y="14630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大额度</a:t>
            </a:r>
            <a:br/>
            <a:r>
              <a:t>资金运作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0" y="228600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EEEEE"/>
                </a:solidFill>
                <a:latin typeface="微软雅黑" panose="020B0503020204020204" charset="-122"/>
              </a:defRPr>
            </a:pPr>
            <a:r>
              <a:t>预算外支出&gt;100万</a:t>
            </a:r>
            <a:br/>
            <a:r>
              <a:t>资金调动&gt;500万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657600"/>
            <a:ext cx="1234440" cy="73152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749040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议题提报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8404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6FB5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37360" y="3657600"/>
            <a:ext cx="1234440" cy="73152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37360" y="3749040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材料审核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38404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6FB5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0" y="3657600"/>
            <a:ext cx="1234440" cy="73152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0" y="3749040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党委会</a:t>
            </a:r>
            <a:br/>
            <a:r>
              <a:t>前置研究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38404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6FB5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3657600"/>
            <a:ext cx="1234440" cy="73152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0" y="3749040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董事会</a:t>
            </a:r>
            <a:br/>
            <a:r>
              <a:t>决策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38404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6FB5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3657600"/>
            <a:ext cx="1234440" cy="73152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0" y="3749040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国资委</a:t>
            </a:r>
            <a:br/>
            <a:r>
              <a:t>审批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38404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6FB5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89520" y="3657600"/>
            <a:ext cx="1234440" cy="73152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89520" y="3749040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执行</a:t>
            </a:r>
            <a:br/>
            <a:r>
              <a:t>跟踪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38404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6FB5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52560" y="3657600"/>
            <a:ext cx="1234440" cy="73152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52560" y="3749040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督查</a:t>
            </a:r>
            <a:br/>
            <a:r>
              <a:t>督办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0" y="38404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6FB5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515600" y="3657600"/>
            <a:ext cx="1234440" cy="73152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0" y="3749040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后评估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7548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✦ 事项清单可配置（金额门限+决策主体）  ✦ 党委会前置研究自动校验  ✦ 电子签到+在线投票+纪要签发  ✦ 三色预警（黄→橙→红）超期自动升级通报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176000" y="6502400"/>
            <a:ext cx="76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17 / 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8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人事薪酬与党建管理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66160"/>
            <a:ext cx="137160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组织保障 · 激励约束 · 政治保障 · 组织建设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76000" y="6502400"/>
            <a:ext cx="76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18 / 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2847"/>
                </a:solidFill>
                <a:latin typeface="微软雅黑" panose="020B0503020204020204" charset="-122"/>
              </a:defRPr>
            </a:pPr>
            <a:r>
              <a:t>人事薪酬考核体系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097280" cy="254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10312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0400" y="1432560"/>
            <a:ext cx="169672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660400" y="1838960"/>
            <a:ext cx="16967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三定管理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400" y="2143760"/>
            <a:ext cx="1696720" cy="154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定职能/定机构/定编制</a:t>
            </a:r>
            <a:br/>
            <a:r>
              <a:t>超编自动预警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280160"/>
            <a:ext cx="210312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46400" y="1432560"/>
            <a:ext cx="169672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2946400" y="1838960"/>
            <a:ext cx="16967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企业负责人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6400" y="2143760"/>
            <a:ext cx="1696720" cy="154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全景档案（任职/薪酬/</a:t>
            </a:r>
            <a:br/>
            <a:r>
              <a:t>考核/兼职/出国境）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1280160"/>
            <a:ext cx="210312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32400" y="1432560"/>
            <a:ext cx="169672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5232400" y="1838960"/>
            <a:ext cx="16967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薪酬总额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2400" y="2143760"/>
            <a:ext cx="1696720" cy="154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效益联动机制</a:t>
            </a:r>
            <a:br/>
            <a:r>
              <a:t>利润增10%→工资增≤8%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1280160"/>
            <a:ext cx="210312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18400" y="1432560"/>
            <a:ext cx="169672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7518400" y="1838960"/>
            <a:ext cx="16967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绩效考核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8400" y="2143760"/>
            <a:ext cx="1696720" cy="154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一企一策方案</a:t>
            </a:r>
            <a:br/>
            <a:r>
              <a:t>经营70%+重点20%+约束</a:t>
            </a:r>
            <a:br/>
            <a:r>
              <a:t>A-E五级与薪酬挂钩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1280160"/>
            <a:ext cx="210312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04400" y="1432560"/>
            <a:ext cx="169672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9804400" y="1838960"/>
            <a:ext cx="16967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干部选拔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04400" y="2143760"/>
            <a:ext cx="1696720" cy="154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动议→民主推荐→考察</a:t>
            </a:r>
            <a:br/>
            <a:r>
              <a:t>→讨论决定→任前公示</a:t>
            </a:r>
            <a:br/>
            <a:r>
              <a:t>→任职→试用考核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114800"/>
            <a:ext cx="10515600" cy="16459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4206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2847"/>
                </a:solidFill>
                <a:latin typeface="微软雅黑" panose="020B0503020204020204" charset="-122"/>
              </a:defRPr>
            </a:pPr>
            <a:r>
              <a:t>绩效考核等级与薪酬挂钩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4572000"/>
            <a:ext cx="9601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A级(优秀)≥90分 → 薪酬系数1.5-2.0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800600"/>
            <a:ext cx="9601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B级(良好)80-89分 → 薪酬系数1.2-1.5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029200"/>
            <a:ext cx="9601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C级(合格)70-79分 → 薪酬系数1.0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257800"/>
            <a:ext cx="9601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D级(基本合格)60-69分 → 薪酬系数0.6-0.8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486400"/>
            <a:ext cx="9601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E级(不合格)&lt;60分 → 仅基本年薪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176000" y="6502400"/>
            <a:ext cx="76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19 / 28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2847"/>
                </a:solidFill>
                <a:latin typeface="微软雅黑" panose="020B0503020204020204" charset="-122"/>
              </a:defRPr>
            </a:pPr>
            <a:r>
              <a:t>党建管理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097280" cy="254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347472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1840" y="1341120"/>
            <a:ext cx="306832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751840" y="1747520"/>
            <a:ext cx="30683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🏛️ 组织建设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1840" y="2052320"/>
            <a:ext cx="3068320" cy="1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组织架构树</a:t>
            </a:r>
            <a:br/>
            <a:r>
              <a:t>换届管理（5/3年任期提醒）</a:t>
            </a:r>
            <a:br/>
            <a:r>
              <a:t>组织设置审批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188720"/>
            <a:ext cx="347472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2320" y="1341120"/>
            <a:ext cx="306832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592320" y="1747520"/>
            <a:ext cx="30683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👤 党员管理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2320" y="2052320"/>
            <a:ext cx="3068320" cy="1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发展党员5阶段全流程</a:t>
            </a:r>
            <a:br/>
            <a:r>
              <a:t>组织关系转接</a:t>
            </a:r>
            <a:br/>
            <a:r>
              <a:t>党员全景画像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188720"/>
            <a:ext cx="347472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32800" y="1341120"/>
            <a:ext cx="306832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432800" y="1747520"/>
            <a:ext cx="30683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📋 组织生活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2800" y="2052320"/>
            <a:ext cx="3068320" cy="1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三会一课/民主生活会</a:t>
            </a:r>
            <a:br/>
            <a:r>
              <a:t>主题党日/民主评议</a:t>
            </a:r>
            <a:br/>
            <a:r>
              <a:t>线上记录+签到统计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749039"/>
            <a:ext cx="347472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1840" y="3901439"/>
            <a:ext cx="306832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751840" y="4307839"/>
            <a:ext cx="30683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💰 党费管理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840" y="4612639"/>
            <a:ext cx="3068320" cy="1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工资联动自动计算</a:t>
            </a:r>
            <a:br/>
            <a:r>
              <a:t>欠缴提醒+使用审批</a:t>
            </a:r>
            <a:br/>
            <a:r>
              <a:t>年度核定+定期公示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0" y="3749039"/>
            <a:ext cx="347472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92320" y="3901439"/>
            <a:ext cx="306832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4592320" y="4307839"/>
            <a:ext cx="30683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📊 党建考核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2320" y="4612639"/>
            <a:ext cx="3068320" cy="1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六维100分制</a:t>
            </a:r>
            <a:br/>
            <a:r>
              <a:t>政治/思想/组织/作风</a:t>
            </a:r>
            <a:br/>
            <a:r>
              <a:t>/融合/制度</a:t>
            </a:r>
            <a:br/>
            <a:r>
              <a:t>与负责人薪酬挂钩≥20%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3749039"/>
            <a:ext cx="347472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32800" y="3901439"/>
            <a:ext cx="306832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8432800" y="4307839"/>
            <a:ext cx="30683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📚 学习教育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2800" y="4612639"/>
            <a:ext cx="3068320" cy="1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在线课程+考试测评</a:t>
            </a:r>
            <a:br/>
            <a:r>
              <a:t>学习积分+学习档案</a:t>
            </a:r>
            <a:br/>
            <a:r>
              <a:t>中心组学习记录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176000" y="6502400"/>
            <a:ext cx="76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20 / 28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8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6563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协同办公与风险管理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66160"/>
            <a:ext cx="137160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流程驱动 · 三道防线 · 全程监控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76000" y="6502400"/>
            <a:ext cx="76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21 / 28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2847"/>
                </a:solidFill>
                <a:latin typeface="微软雅黑" panose="020B0503020204020204" charset="-122"/>
              </a:defRPr>
            </a:pPr>
            <a:r>
              <a:t>协同办公与风险管理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1097280" cy="254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265176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0400" y="1158240"/>
            <a:ext cx="224536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660400" y="1564640"/>
            <a:ext cx="22453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公文管理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400" y="1869440"/>
            <a:ext cx="2245360" cy="62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收文/发文/签报全流程</a:t>
            </a:r>
            <a:br/>
            <a:r>
              <a:t>国密SM2电子签章</a:t>
            </a:r>
            <a:br/>
            <a:r>
              <a:t>手写签批+全文检索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005840"/>
            <a:ext cx="265176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86480" y="1158240"/>
            <a:ext cx="224536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3586480" y="1564640"/>
            <a:ext cx="22453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会议管理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6480" y="1869440"/>
            <a:ext cx="2245360" cy="62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议题征集→签到→无纸化</a:t>
            </a:r>
            <a:br/>
            <a:r>
              <a:t>→投票→纪要→决议督办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005840"/>
            <a:ext cx="265176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2560" y="1158240"/>
            <a:ext cx="224536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512560" y="1564640"/>
            <a:ext cx="22453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督查督办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2560" y="1869440"/>
            <a:ext cx="2245360" cy="62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三色预警+超期自动升级</a:t>
            </a:r>
            <a:br/>
            <a:r>
              <a:t>通报+绩效关联扣分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1005840"/>
            <a:ext cx="265176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38640" y="1158240"/>
            <a:ext cx="224536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9438640" y="1564640"/>
            <a:ext cx="22453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合同管理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8640" y="1869440"/>
            <a:ext cx="2245360" cy="62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全生命周期管理</a:t>
            </a:r>
            <a:br/>
            <a:r>
              <a:t>法务/财务/风控会签</a:t>
            </a:r>
            <a:br/>
            <a:r>
              <a:t>到期90/60/30天提醒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971800"/>
            <a:ext cx="265176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400" y="3124200"/>
            <a:ext cx="224536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60400" y="3530600"/>
            <a:ext cx="22453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风险识别评估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400" y="3835400"/>
            <a:ext cx="2245360" cy="995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五大风险分类</a:t>
            </a:r>
            <a:br/>
            <a:r>
              <a:t>概率×影响矩阵(A/B/C/D)</a:t>
            </a:r>
            <a:br/>
            <a:r>
              <a:t>风险事件库→知识图谱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3280" y="2971800"/>
            <a:ext cx="265176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86480" y="3124200"/>
            <a:ext cx="224536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3586480" y="3530600"/>
            <a:ext cx="22453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内控评价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86480" y="3835400"/>
            <a:ext cx="2245360" cy="995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部门自评→独立评价</a:t>
            </a:r>
            <a:br/>
            <a:r>
              <a:t>→缺陷认定(一般/重要/重大)</a:t>
            </a:r>
            <a:br/>
            <a:r>
              <a:t>→整改→验收销号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2971800"/>
            <a:ext cx="265176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12560" y="3124200"/>
            <a:ext cx="224536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6512560" y="3530600"/>
            <a:ext cx="22453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审计管理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2560" y="3835400"/>
            <a:ext cx="2245360" cy="995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计划→现场→报告→整改</a:t>
            </a:r>
            <a:br/>
            <a:r>
              <a:t>→回头看，全流程闭环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35440" y="2971800"/>
            <a:ext cx="265176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38640" y="3124200"/>
            <a:ext cx="224536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35" name="TextBox 34"/>
          <p:cNvSpPr txBox="1"/>
          <p:nvPr/>
        </p:nvSpPr>
        <p:spPr>
          <a:xfrm>
            <a:off x="9438640" y="3530600"/>
            <a:ext cx="22453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合规追责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38640" y="3835400"/>
            <a:ext cx="2245360" cy="995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合规义务库+审查前置</a:t>
            </a:r>
            <a:br/>
            <a:r>
              <a:t>举报平台+线索处置</a:t>
            </a:r>
            <a:br/>
            <a:r>
              <a:t>违规经营投资责任追究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2120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6FB5"/>
                </a:solidFill>
                <a:latin typeface="微软雅黑" panose="020B0503020204020204" charset="-122"/>
              </a:defRPr>
            </a:pPr>
            <a:r>
              <a:t>三道防线：业务部门（日常自控）→ 风控合规部门（监控审查）→ 内部审计纪检（独立监督追责）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176000" y="6502400"/>
            <a:ext cx="76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22 / 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8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782445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监管驾驶舱与数据上报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66160"/>
            <a:ext cx="137160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穿透式监管 · 智能校验 · 多端适配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76000" y="6502400"/>
            <a:ext cx="76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23 / 28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2847"/>
                </a:solidFill>
                <a:latin typeface="微软雅黑" panose="020B0503020204020204" charset="-122"/>
              </a:defRPr>
            </a:pPr>
            <a:r>
              <a:t>监管驾驶舱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097280" cy="254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394960" cy="32004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394960" cy="50800"/>
          </a:xfrm>
          <a:prstGeom prst="rect">
            <a:avLst/>
          </a:prstGeom>
          <a:solidFill>
            <a:srgbClr val="0F2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2847"/>
                </a:solidFill>
                <a:latin typeface="微软雅黑" panose="020B0503020204020204" charset="-122"/>
              </a:defRPr>
            </a:pPr>
            <a:r>
              <a:t>国资委端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6大核心指标卡（资产总额/营收/利润/ROE/负债率/保值增值率）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7大主题看板切换（资产/经营/投资/财务/人事/风险/党建）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06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逐级穿透：全景→行业→企业→明细四级下钻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175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资产分布地图热力图 + 企业排名TOP10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290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实时预警信息滚动推送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188720"/>
            <a:ext cx="5394960" cy="32004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188720"/>
            <a:ext cx="5394960" cy="508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325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6FB5"/>
                </a:solidFill>
                <a:latin typeface="微软雅黑" panose="020B0503020204020204" charset="-122"/>
              </a:defRPr>
            </a:pPr>
            <a:r>
              <a:t>企业端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783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4大核心指标（营收/利润/资产/负债率）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1945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待办事项+预警信息一站式处理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606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子公司经营排名对比 + 趋势分析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0175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重大事项进度甘特图跟踪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4290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• 企业→子公司→项目→明细四级穿透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754880"/>
            <a:ext cx="10515600" cy="64008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8920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设计原则：一眼知全局 · 逐级可穿透 · 异常必预警 · 多端自适应（大屏/PC/平板/手机）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76000" y="6502400"/>
            <a:ext cx="76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24 / 28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2847"/>
                </a:solidFill>
                <a:latin typeface="微软雅黑" panose="020B0503020204020204" charset="-122"/>
              </a:defRPr>
            </a:pPr>
            <a:r>
              <a:t>数据上报系统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097280" cy="254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515600" cy="13258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2801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2847"/>
                </a:solidFill>
                <a:latin typeface="微软雅黑" panose="020B0503020204020204" charset="-122"/>
              </a:defRPr>
            </a:pPr>
            <a:r>
              <a:t>📝 三种填报方式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Web表单在线填写（适合少量数据）</a:t>
            </a:r>
            <a:br/>
            <a:r>
              <a:t>Excel模板导入（适合批量数据）</a:t>
            </a:r>
            <a:br/>
            <a:r>
              <a:t>ERP系统API对接自动取数（适合常态化）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651760"/>
            <a:ext cx="10515600" cy="13258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2847"/>
                </a:solidFill>
                <a:latin typeface="微软雅黑" panose="020B0503020204020204" charset="-122"/>
              </a:defRPr>
            </a:pPr>
            <a:r>
              <a:t>✅ 智能校验引擎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1089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300+可配置规则库</a:t>
            </a:r>
            <a:br/>
            <a:r>
              <a:t>表内平衡 + 表间勾稽 + 异常波动 + 合规红线</a:t>
            </a:r>
            <a:br/>
            <a:r>
              <a:t>ERROR(必须修正) / WARNING(说明可提交) / INFO(提示)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114800"/>
            <a:ext cx="10515600" cy="13258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206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2847"/>
                </a:solidFill>
                <a:latin typeface="微软雅黑" panose="020B0503020204020204" charset="-122"/>
              </a:defRPr>
            </a:pPr>
            <a:r>
              <a:t>📊 报送管理与统计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57200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任务下发→自动通知→填报→校验→审核→汇总→归档</a:t>
            </a:r>
            <a:br/>
            <a:r>
              <a:t>报送进度看板 + 自动催报 + 企业质量评分排名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76000" y="6502400"/>
            <a:ext cx="76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25 / 28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8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5547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技术架构与信创适配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66160"/>
            <a:ext cx="137160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微服务架构 · 信创全栈 · 等保三级 · 国密算法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76000" y="6502400"/>
            <a:ext cx="76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26 / 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2847"/>
                </a:solidFill>
                <a:latin typeface="微软雅黑" panose="020B0503020204020204" charset="-122"/>
              </a:defRPr>
            </a:pPr>
            <a:r>
              <a:t>技术架构与信创适配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777240"/>
            <a:ext cx="1097280" cy="254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2651760" cy="13716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前端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EEEEE"/>
                </a:solidFill>
                <a:latin typeface="微软雅黑" panose="020B0503020204020204" charset="-122"/>
              </a:defRPr>
            </a:pPr>
            <a:r>
              <a:t>Vue 3 / React 18 + TypeScript</a:t>
            </a:r>
            <a:br/>
            <a:r>
              <a:t>Ant Design / Element Plus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097280"/>
            <a:ext cx="2651760" cy="1371600"/>
          </a:xfrm>
          <a:prstGeom prst="rect">
            <a:avLst/>
          </a:prstGeom>
          <a:solidFill>
            <a:srgbClr val="22B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188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后端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5087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EEEEE"/>
                </a:solidFill>
                <a:latin typeface="微软雅黑" panose="020B0503020204020204" charset="-122"/>
              </a:defRPr>
            </a:pPr>
            <a:r>
              <a:t>Spring Boot 3 / Go</a:t>
            </a:r>
            <a:br/>
            <a:r>
              <a:t>微服务架构 + API网关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097280"/>
            <a:ext cx="2651760" cy="1371600"/>
          </a:xfrm>
          <a:prstGeom prst="rect">
            <a:avLst/>
          </a:prstGeom>
          <a:solidFill>
            <a:srgbClr val="F0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188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数据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5087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EEEEE"/>
                </a:solidFill>
                <a:latin typeface="微软雅黑" panose="020B0503020204020204" charset="-122"/>
              </a:defRPr>
            </a:pPr>
            <a:r>
              <a:t>达梦DM8 / 人大金仓 + Redis</a:t>
            </a:r>
            <a:br/>
            <a:r>
              <a:t>Elasticsearch全文检索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35440" y="1097280"/>
            <a:ext cx="2651760" cy="1371600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0" y="1188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中间件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15087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EEEEE"/>
                </a:solidFill>
                <a:latin typeface="微软雅黑" panose="020B0503020204020204" charset="-122"/>
              </a:defRPr>
            </a:pPr>
            <a:r>
              <a:t>东方通 / 中创 + RabbitMQ</a:t>
            </a:r>
            <a:br/>
            <a:r>
              <a:t>Nacos注册中心 + Sentinel限流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743200"/>
            <a:ext cx="347472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400" y="2895600"/>
            <a:ext cx="306832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60400" y="3302000"/>
            <a:ext cx="30683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信创适配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400" y="3606800"/>
            <a:ext cx="3068320" cy="35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CPU鲲鹏/飞腾/海光 + OS统信/麒麟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2743200"/>
            <a:ext cx="347472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00880" y="2895600"/>
            <a:ext cx="306832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4500880" y="3302000"/>
            <a:ext cx="30683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国密算法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00880" y="3606800"/>
            <a:ext cx="3068320" cy="35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SM2/SM3/SM4传输与存储加密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2743200"/>
            <a:ext cx="347472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41360" y="2895600"/>
            <a:ext cx="306832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8341360" y="3302000"/>
            <a:ext cx="30683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等保三级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41360" y="3606800"/>
            <a:ext cx="3068320" cy="35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网络安全等级保护2.0合规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023360"/>
            <a:ext cx="347472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400" y="4175760"/>
            <a:ext cx="306832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660400" y="4582160"/>
            <a:ext cx="30683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高可用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0400" y="4886960"/>
            <a:ext cx="3068320" cy="35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应用双活+数据库主备 RPO&lt;30min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97680" y="4023360"/>
            <a:ext cx="347472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00880" y="4175760"/>
            <a:ext cx="306832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35" name="TextBox 34"/>
          <p:cNvSpPr txBox="1"/>
          <p:nvPr/>
        </p:nvSpPr>
        <p:spPr>
          <a:xfrm>
            <a:off x="4500880" y="4582160"/>
            <a:ext cx="30683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性能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00880" y="4886960"/>
            <a:ext cx="3068320" cy="35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首页&lt;3s 查询&lt;5s 并发2000+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38160" y="4023360"/>
            <a:ext cx="347472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41360" y="4175760"/>
            <a:ext cx="306832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39" name="TextBox 38"/>
          <p:cNvSpPr txBox="1"/>
          <p:nvPr/>
        </p:nvSpPr>
        <p:spPr>
          <a:xfrm>
            <a:off x="8341360" y="4582160"/>
            <a:ext cx="30683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移动端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41360" y="4886960"/>
            <a:ext cx="3068320" cy="35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企业微信/钉钉 + 独立APP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176000" y="6502400"/>
            <a:ext cx="76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27 / 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8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7830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建设路线图与预期价值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66160"/>
            <a:ext cx="137160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三阶段实施 · 六大成效 · 平台核心优势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76000" y="6502400"/>
            <a:ext cx="76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28 /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2847"/>
                </a:solidFill>
                <a:latin typeface="微软雅黑" panose="020B0503020204020204" charset="-122"/>
              </a:defRPr>
            </a:pPr>
            <a:r>
              <a:t>分阶段建设路线图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097280" cy="254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3566160" cy="1005840"/>
          </a:xfrm>
          <a:prstGeom prst="rect">
            <a:avLst/>
          </a:prstGeom>
          <a:solidFill>
            <a:srgbClr val="22B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DDDDD"/>
                </a:solidFill>
                <a:latin typeface="微软雅黑" panose="020B0503020204020204" charset="-122"/>
              </a:defRPr>
            </a:pPr>
            <a: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基础搭建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3-6个月  |  预算30%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✓ 统一门户+用户权限体系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6148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✓ 资产管理(台账+产权+权证)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4553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✓ 财务快报+数据上报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2958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✓ 协同办公(公文+会议+通知)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91363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✓ 基础监管驾驶舱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1188720"/>
            <a:ext cx="3566160" cy="100584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2344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DDDDD"/>
                </a:solidFill>
                <a:latin typeface="微软雅黑" panose="020B0503020204020204" charset="-122"/>
              </a:defRPr>
            </a:pPr>
            <a:r>
              <a:t>Phase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14630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核心深化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18288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6-12个月  |  预算40%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3774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✓ 投资管理全流程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76148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✓ 财务监管(预算+资金+融资)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14553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✓ 资产评估+处置+盘点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352958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✓ 三重一大+党建管理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91363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✓ 人事薪酬+绩效考核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2976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✓ 驾驶舱深化(穿透式+企业端)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20" y="1188720"/>
            <a:ext cx="3566160" cy="1005840"/>
          </a:xfrm>
          <a:prstGeom prst="rect">
            <a:avLst/>
          </a:prstGeom>
          <a:solidFill>
            <a:srgbClr val="F0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2344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DDDDD"/>
                </a:solidFill>
                <a:latin typeface="微软雅黑" panose="020B0503020204020204" charset="-122"/>
              </a:defRPr>
            </a:pPr>
            <a:r>
              <a:t>Phase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14630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全面完善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18288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12-24个月  |  预算30%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23774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✓ 风险管理与内控体系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276148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✓ 产权交易系统对接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314553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✓ AI智能分析(风险预测)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352958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✓ 全面数据中台建设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391363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✓ 信创迁移+等保认证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42976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✓ 移动端全覆盖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176000" y="6502400"/>
            <a:ext cx="76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29 / 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2847"/>
                </a:solidFill>
                <a:latin typeface="微软雅黑" panose="020B0503020204020204" charset="-122"/>
              </a:defRPr>
            </a:pPr>
            <a:r>
              <a:t>预期建设成效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097280" cy="254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347472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1840" y="1341120"/>
            <a:ext cx="306832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1840" y="1747520"/>
            <a:ext cx="30683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监管效能提升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1840" y="2052320"/>
            <a:ext cx="3068320" cy="1087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数据报送周期从天级缩短至小时级</a:t>
            </a:r>
            <a:br/>
            <a:r>
              <a:t>人工汇总工作量降低80%</a:t>
            </a:r>
            <a:br/>
            <a:r>
              <a:t>穿透式监管，从看报表到看明细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188720"/>
            <a:ext cx="347472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2320" y="1341120"/>
            <a:ext cx="306832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2320" y="1747520"/>
            <a:ext cx="30683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风险防控增强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2320" y="2052320"/>
            <a:ext cx="3068320" cy="1087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15+预警规则实时监控</a:t>
            </a:r>
            <a:br/>
            <a:r>
              <a:t>大额资金异常秒级发现</a:t>
            </a:r>
            <a:br/>
            <a:r>
              <a:t>风险从被动响应变主动预警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188720"/>
            <a:ext cx="347472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32800" y="1341120"/>
            <a:ext cx="306832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2800" y="1747520"/>
            <a:ext cx="30683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资产效益提高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2800" y="2052320"/>
            <a:ext cx="3068320" cy="1087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闲置资产自动识别盘活建议</a:t>
            </a:r>
            <a:br/>
            <a:r>
              <a:t>出租到期自动提醒减少租金损失</a:t>
            </a:r>
            <a:br/>
            <a:r>
              <a:t>处置全流程留痕防止资产流失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566160"/>
            <a:ext cx="347472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1840" y="3718560"/>
            <a:ext cx="306832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1840" y="4124960"/>
            <a:ext cx="30683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业务协同优化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840" y="4429760"/>
            <a:ext cx="3068320" cy="1087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10大模块数据互通消除信息孤岛</a:t>
            </a:r>
            <a:br/>
            <a:r>
              <a:t>审批流程线上化，周期缩短60%</a:t>
            </a:r>
            <a:br/>
            <a:r>
              <a:t>移动办公实现随时随地处理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0" y="3566160"/>
            <a:ext cx="347472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92320" y="3718560"/>
            <a:ext cx="306832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2320" y="4124960"/>
            <a:ext cx="30683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决策科学化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2320" y="4429760"/>
            <a:ext cx="3068320" cy="1087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驾驶舱辅助宏观决策</a:t>
            </a:r>
            <a:br/>
            <a:r>
              <a:t>对标分析/趋势预测量化支撑</a:t>
            </a:r>
            <a:br/>
            <a:r>
              <a:t>AI辅助异常检测和经营预测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3566160"/>
            <a:ext cx="347472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32800" y="3718560"/>
            <a:ext cx="306832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32800" y="4124960"/>
            <a:ext cx="30683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276"/>
                </a:solidFill>
                <a:latin typeface="微软雅黑" panose="020B0503020204020204" charset="-122"/>
              </a:defRPr>
            </a:pPr>
            <a:r>
              <a:t>合规水平提升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2800" y="4429760"/>
            <a:ext cx="3068320" cy="1087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三重一大全流程可追溯</a:t>
            </a:r>
            <a:br/>
            <a:r>
              <a:t>内控缺陷整改率提升至95%+</a:t>
            </a:r>
            <a:br/>
            <a:r>
              <a:t>审计问题整改闭环率100%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176000" y="6502400"/>
            <a:ext cx="76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30 / 28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2847"/>
                </a:solidFill>
                <a:latin typeface="微软雅黑" panose="020B0503020204020204" charset="-122"/>
              </a:defRPr>
            </a:pPr>
            <a:r>
              <a:t>平台核心优势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097280" cy="254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2847"/>
                </a:solidFill>
                <a:latin typeface="微软雅黑" panose="020B0503020204020204" charset="-122"/>
              </a:defRPr>
            </a:pPr>
            <a:r>
              <a:t>全链条贯通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从资产形成到处置退出</a:t>
            </a:r>
            <a:br/>
            <a:r>
              <a:t>从投资立项到投后评价</a:t>
            </a:r>
            <a:br/>
            <a:r>
              <a:t>从议题提报到执行跟踪</a:t>
            </a:r>
            <a:br/>
            <a:r>
              <a:t>全生命周期闭环管理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4630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🏗️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03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2847"/>
                </a:solidFill>
                <a:latin typeface="微软雅黑" panose="020B0503020204020204" charset="-122"/>
              </a:defRPr>
            </a:pPr>
            <a:r>
              <a:t>一体化平台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65176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打破10个业务领域壁垒</a:t>
            </a:r>
            <a:br/>
            <a:r>
              <a:t>统一数据标准与接口</a:t>
            </a:r>
            <a:br/>
            <a:r>
              <a:t>国资委-企业上下贯通</a:t>
            </a:r>
            <a:br/>
            <a:r>
              <a:t>消除信息孤岛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4630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103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2847"/>
                </a:solidFill>
                <a:latin typeface="微软雅黑" panose="020B0503020204020204" charset="-122"/>
              </a:defRPr>
            </a:pPr>
            <a:r>
              <a:t>智能化监管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65176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300+自动校验规则</a:t>
            </a:r>
            <a:br/>
            <a:r>
              <a:t>15+预警模型实时监控</a:t>
            </a:r>
            <a:br/>
            <a:r>
              <a:t>AI辅助异常检测</a:t>
            </a:r>
            <a:br/>
            <a:r>
              <a:t>知识图谱风险识别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4114800"/>
            <a:ext cx="9418320" cy="109728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0" y="429768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国资一体化平台 = 数据汇聚 + 流程贯通 + 风险预警 + 决策支持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75488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CDDEE"/>
                </a:solidFill>
                <a:latin typeface="微软雅黑" panose="020B0503020204020204" charset="-122"/>
              </a:defRPr>
            </a:pPr>
            <a:r>
              <a:t>让国有资产监管更智慧、更高效、更透明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76000" y="6502400"/>
            <a:ext cx="76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31 / 28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8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感谢聆听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108960"/>
            <a:ext cx="2103120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BB"/>
                </a:solidFill>
                <a:latin typeface="微软雅黑" panose="020B0503020204020204" charset="-122"/>
              </a:defRPr>
            </a:pPr>
            <a:r>
              <a:t>国资一体化平台 — 国有资产全生命周期数字化管理解决方案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rPr lang="zh-CN"/>
              <a:t>东莞市人工智能与数字经济集团有限公司</a:t>
            </a:r>
            <a:endParaRPr lang="zh-CN"/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332720" cy="29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F8C9B"/>
                </a:solidFill>
                <a:latin typeface="微软雅黑" panose="020B0503020204020204" charset="-122"/>
              </a:defRPr>
            </a:pPr>
            <a:r>
              <a:t>202</a:t>
            </a:r>
            <a:r>
              <a:rPr lang="en-US"/>
              <a:t>3</a:t>
            </a:r>
            <a:r>
              <a:t>年</a:t>
            </a:r>
            <a:r>
              <a:rPr lang="en-US"/>
              <a:t>10</a:t>
            </a:r>
            <a:r>
              <a:t>月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5725</Words>
  <Application>WPS 演示</Application>
  <PresentationFormat>On-screen Show (4:3)</PresentationFormat>
  <Paragraphs>900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0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华南师范大学石牌京东派</cp:lastModifiedBy>
  <cp:revision>2</cp:revision>
  <dcterms:created xsi:type="dcterms:W3CDTF">2013-01-27T09:14:00Z</dcterms:created>
  <dcterms:modified xsi:type="dcterms:W3CDTF">2026-06-10T04:28:43Z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146FCC7AFD8C4197B58C10293D11A879_12</vt:lpwstr>
  </property>
</Properties>
</file>